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B2A41"/>
                </a:solidFill>
                <a:latin typeface="Segoe UI"/>
              </a:rPr>
              <a:t>FIFA World Cup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B7280"/>
                </a:solidFill>
                <a:latin typeface="Segoe UI"/>
              </a:rPr>
              <a:t>O'yinchilar samaradorligi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09728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Segoe UI"/>
              </a:rPr>
              <a:t>Excel (Pivot Table) + Python (pandas) — QA tomonidan tasdiqlangan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55A11"/>
                </a:solidFill>
                <a:latin typeface="Segoe U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1"/>
                </a:solidFill>
                <a:latin typeface="Segoe UI"/>
              </a:rPr>
              <a:t>54,600 qator ma'lumot, to'liq tozalangan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783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C55A11"/>
                </a:solidFill>
                <a:latin typeface="Segoe UI"/>
              </a:rPr>
              <a:t>54,600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Segoe UI"/>
              </a:rPr>
              <a:t>qator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377440"/>
            <a:ext cx="1783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C55A11"/>
                </a:solidFill>
                <a:latin typeface="Segoe UI"/>
              </a:rPr>
              <a:t>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24612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Segoe UI"/>
              </a:rPr>
              <a:t>ustun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377440"/>
            <a:ext cx="1783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C55A11"/>
                </a:solidFill>
                <a:latin typeface="Segoe UI"/>
              </a:rPr>
              <a:t>1,248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24612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Segoe UI"/>
              </a:rPr>
              <a:t>noyob o'yinchi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1783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C55A11"/>
                </a:solidFill>
                <a:latin typeface="Segoe UI"/>
              </a:rPr>
              <a:t>1,050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4612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Segoe UI"/>
              </a:rPr>
              <a:t>o'yin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377440"/>
            <a:ext cx="1783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C55A11"/>
                </a:solidFill>
                <a:latin typeface="Segoe UI"/>
              </a:rPr>
              <a:t>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24612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Segoe UI"/>
              </a:rPr>
              <a:t>jamoa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377440"/>
            <a:ext cx="1783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C55A11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24612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Segoe UI"/>
              </a:rPr>
              <a:t>pozitsiya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31920"/>
            <a:ext cx="1088136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B2A41"/>
                </a:solidFill>
                <a:latin typeface="Segoe UI"/>
              </a:rPr>
              <a:t>Har bir qator — bitta o'yinchining bitta o'yindagi statistikasi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NULL qiymat va dublikat qator yo'q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457200" cy="279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FIFA World Cup 2026 — Player Performance tahlili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55A11"/>
                </a:solidFill>
                <a:latin typeface="Segoe UI"/>
              </a:rPr>
              <a:t>METODOLOGIYA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2A41"/>
                </a:solidFill>
                <a:latin typeface="Segoe UI"/>
              </a:rPr>
              <a:t>Ikki bosqichli mustaqil tekshiruv — farq topilmadi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5120640" cy="30175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2316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A41"/>
                </a:solidFill>
                <a:latin typeface="Segoe UI"/>
              </a:rPr>
              <a:t>Excel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108960"/>
            <a:ext cx="4389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Excel Table + 6 ta pivot table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bitta umumiy PivotCache'dan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Dashboard: 4 KPI, 3 grafik, 2 slicer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103120"/>
            <a:ext cx="5120640" cy="30175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42316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A41"/>
                </a:solidFill>
                <a:latin typeface="Segoe U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108960"/>
            <a:ext cx="4389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pandas bilan barcha pivot natijalar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mustaqil qayta hisoblandi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Excel natijalari bilan solishtirildi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C55A11"/>
                </a:solidFill>
                <a:latin typeface="Segoe UI"/>
              </a:rPr>
              <a:t>Natija: sonli farq topilmadi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73952"/>
            <a:ext cx="457200" cy="279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FIFA World Cup 2026 — Player Performance tahlili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55A11"/>
                </a:solidFill>
                <a:latin typeface="Segoe UI"/>
              </a:rPr>
              <a:t>XULOSA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A41"/>
                </a:solidFill>
                <a:latin typeface="Segoe UI"/>
              </a:rPr>
              <a:t>Qatar — turnirning eng ko'p gol urgan jamoasi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C55A11"/>
                </a:solidFill>
                <a:latin typeface="Segoe UI"/>
              </a:rPr>
              <a:t>95 gol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3657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Netherlands (94) va Panama (90) dan oldinda —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TOP-3 orasidagi farq atigi 1-5 gol.</a:t>
            </a:r>
          </a:p>
        </p:txBody>
      </p:sp>
      <p:pic>
        <p:nvPicPr>
          <p:cNvPr id="6" name="Picture 5" descr="01_top10_team_go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68780"/>
            <a:ext cx="6949440" cy="434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473952"/>
            <a:ext cx="457200" cy="279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FIFA World Cup 2026 — Player Performance tahlili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55A11"/>
                </a:solidFill>
                <a:latin typeface="Segoe UI"/>
              </a:rPr>
              <a:t>XULOSA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A41"/>
                </a:solidFill>
                <a:latin typeface="Segoe UI"/>
              </a:rPr>
              <a:t>Forward — eng yuqori o'rtacha reyting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C55A11"/>
                </a:solidFill>
                <a:latin typeface="Segoe UI"/>
              </a:rPr>
              <a:t>3.88 ball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3657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Defenderdan (3.79) +0.09, Goalkeeperdan (2.07)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+1.82 ball yuqori.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Pas aniqligida esa Midfielder yetakchi (85.0%).</a:t>
            </a:r>
          </a:p>
        </p:txBody>
      </p:sp>
      <p:pic>
        <p:nvPicPr>
          <p:cNvPr id="6" name="Picture 5" descr="02_position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03120"/>
            <a:ext cx="6949440" cy="3474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473952"/>
            <a:ext cx="457200" cy="279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FIFA World Cup 2026 — Player Performance tahlili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55A11"/>
                </a:solidFill>
                <a:latin typeface="Segoe UI"/>
              </a:rPr>
              <a:t>XULOSA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A41"/>
                </a:solidFill>
                <a:latin typeface="Segoe UI"/>
              </a:rPr>
              <a:t>Saudi Arabia — eng qimmat tarkibga ega jamoa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C55A11"/>
                </a:solidFill>
                <a:latin typeface="Segoe UI"/>
              </a:rPr>
              <a:t>~33.8M 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3657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TOP-10'dagi 10-o'rin Iran'dan (~23.9M EUR)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sezilarli farq bilan.</a:t>
            </a:r>
          </a:p>
        </p:txBody>
      </p:sp>
      <p:pic>
        <p:nvPicPr>
          <p:cNvPr id="6" name="Picture 5" descr="04_top10_market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68780"/>
            <a:ext cx="6949440" cy="434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473952"/>
            <a:ext cx="457200" cy="279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FIFA World Cup 2026 — Player Performance tahlili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55A11"/>
                </a:solidFill>
                <a:latin typeface="Segoe UI"/>
              </a:rPr>
              <a:t>XULOSA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A41"/>
                </a:solidFill>
                <a:latin typeface="Segoe UI"/>
              </a:rPr>
              <a:t>Memphis Zerrouki — turnirning eng samarali o'yinchisi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C55A11"/>
                </a:solidFill>
                <a:latin typeface="Segoe UI"/>
              </a:rPr>
              <a:t>33 ball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3657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24 gol + 9 gol uzatish = 33.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Ikkinchi o'rindagi Kasey Hectordan (16 gol)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8 golga ustun.</a:t>
            </a:r>
          </a:p>
        </p:txBody>
      </p:sp>
      <p:pic>
        <p:nvPicPr>
          <p:cNvPr id="6" name="Picture 5" descr="05_top10_scor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10080"/>
            <a:ext cx="6949440" cy="3860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473952"/>
            <a:ext cx="457200" cy="279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FIFA World Cup 2026 — Player Performance tahlili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55A11"/>
                </a:solidFill>
                <a:latin typeface="Segoe UI"/>
              </a:rPr>
              <a:t>XULOSA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A41"/>
                </a:solidFill>
                <a:latin typeface="Segoe UI"/>
              </a:rPr>
              <a:t>England — zarbani golga eng yaxshi aylantiruvchi jamoa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C55A11"/>
                </a:solidFill>
                <a:latin typeface="Segoe UI"/>
              </a:rPr>
              <a:t>3.27%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3657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Jami gollar bo'yicha TOP-10'ga kirmasa-da —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kamroq, lekin aniqroq zarba qiladi.</a:t>
            </a:r>
          </a:p>
        </p:txBody>
      </p:sp>
      <p:pic>
        <p:nvPicPr>
          <p:cNvPr id="6" name="Picture 5" descr="06_top5_conversio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417320"/>
            <a:ext cx="6784848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473952"/>
            <a:ext cx="457200" cy="279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FIFA World Cup 2026 — Player Performance tahlili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55A11"/>
                </a:solidFill>
                <a:latin typeface="Segoe UI"/>
              </a:rPr>
              <a:t>QO'SHIMCHA KONTEKST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A41"/>
                </a:solidFill>
                <a:latin typeface="Segoe UI"/>
              </a:rPr>
              <a:t>Group Stage'da eng ko'p gol qayd etilgan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C55A11"/>
                </a:solidFill>
                <a:latin typeface="Segoe UI"/>
              </a:rPr>
              <a:t>1,630 gol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3657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Turnir bosqichi oshgan sari gollar soni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keskin kamayib boradi.</a:t>
            </a:r>
          </a:p>
        </p:txBody>
      </p:sp>
      <p:pic>
        <p:nvPicPr>
          <p:cNvPr id="6" name="Picture 5" descr="07_dashboard_stage_go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68780"/>
            <a:ext cx="6949440" cy="434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473952"/>
            <a:ext cx="457200" cy="279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FIFA World Cup 2026 — Player Performance tahlili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55A11"/>
                </a:solidFill>
                <a:latin typeface="Segoe UI"/>
              </a:rPr>
              <a:t>QO'SHIMCHA KONTEKST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B2A41"/>
                </a:solidFill>
                <a:latin typeface="Segoe UI"/>
              </a:rPr>
              <a:t>Defender — o'yinchilar orasida eng ko'p sonli pozitsiya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C55A11"/>
                </a:solidFill>
                <a:latin typeface="Segoe UI"/>
              </a:rPr>
              <a:t>34.6%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3657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Midfielder 30.8%, Forward 23.1%,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Goalkeeper 11.5%.</a:t>
            </a:r>
          </a:p>
        </p:txBody>
      </p:sp>
      <p:pic>
        <p:nvPicPr>
          <p:cNvPr id="6" name="Picture 5" descr="08_dashboard_posi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17320"/>
            <a:ext cx="484632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473952"/>
            <a:ext cx="457200" cy="279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FIFA World Cup 2026 — Player Performance tahlili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55A11"/>
                </a:solidFill>
                <a:latin typeface="Segoe UI"/>
              </a:rPr>
              <a:t>YAKUNIY XULOSA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1"/>
                </a:solidFill>
                <a:latin typeface="Segoe UI"/>
              </a:rPr>
              <a:t>5 ta asosiy topilma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21408"/>
            <a:ext cx="109728" cy="10972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B2A41"/>
                </a:solidFill>
                <a:latin typeface="Segoe UI"/>
              </a:rPr>
              <a:t>Qatar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011680"/>
            <a:ext cx="7223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gol samaradorligida yetakchi jamoa (95 gol)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98648"/>
            <a:ext cx="109728" cy="10972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B2A41"/>
                </a:solidFill>
                <a:latin typeface="Segoe UI"/>
              </a:rPr>
              <a:t>Forward / Midfielder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788920"/>
            <a:ext cx="7223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reytingda va pas aniqligida yetakchi pozitsiyalar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75888"/>
            <a:ext cx="109728" cy="10972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6616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B2A41"/>
                </a:solidFill>
                <a:latin typeface="Segoe UI"/>
              </a:rPr>
              <a:t>Saudi Arabia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566160"/>
            <a:ext cx="7223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eng qimmat tarkibga ega jamoa (~33.8M EUR)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453128"/>
            <a:ext cx="109728" cy="10972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34340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B2A41"/>
                </a:solidFill>
                <a:latin typeface="Segoe UI"/>
              </a:rPr>
              <a:t>Memphis Zerrouki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343400"/>
            <a:ext cx="7223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turnirning eng samarali o'yinchisi (33 ball)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230368"/>
            <a:ext cx="109728" cy="10972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2064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B2A41"/>
                </a:solidFill>
                <a:latin typeface="Segoe UI"/>
              </a:rPr>
              <a:t>England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120640"/>
            <a:ext cx="7223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zarbani golga eng aniq aylantiruvchi jamoa (3.27%)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989320"/>
            <a:ext cx="1088136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Segoe UI"/>
              </a:rPr>
              <a:t>Barcha ko'rsatkichlar Excel va Python dual-method orqali QA tomonidan tasdiqlangan.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